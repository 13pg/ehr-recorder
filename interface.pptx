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28" userDrawn="1">
          <p15:clr>
            <a:srgbClr val="A4A3A4"/>
          </p15:clr>
        </p15:guide>
        <p15:guide id="2" pos="390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 showGuides="1">
      <p:cViewPr varScale="1">
        <p:scale>
          <a:sx n="116" d="100"/>
          <a:sy n="116" d="100"/>
        </p:scale>
        <p:origin x="336" y="108"/>
      </p:cViewPr>
      <p:guideLst>
        <p:guide orient="horz" pos="2128"/>
        <p:guide pos="3901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presProps" Target="presProps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1" Type="http://schemas.openxmlformats.org/officeDocument/2006/relationships/tableStyles" Target="tableStyles.xml"/><Relationship Id="rId10" Type="http://schemas.openxmlformats.org/officeDocument/2006/relationships/viewProps" Target="viewProps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单击此处编辑母版副标题样式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&#10;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97B5FA-0921-464F-AAE1-844C04324D75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5CE74E-AB26-4998-AD42-012C4C1AD076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矩形 3"/>
          <p:cNvSpPr/>
          <p:nvPr/>
        </p:nvSpPr>
        <p:spPr>
          <a:xfrm>
            <a:off x="610235" y="507365"/>
            <a:ext cx="11317605" cy="6134735"/>
          </a:xfrm>
          <a:prstGeom prst="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5" name="矩形 4"/>
          <p:cNvSpPr/>
          <p:nvPr/>
        </p:nvSpPr>
        <p:spPr>
          <a:xfrm>
            <a:off x="614680" y="504825"/>
            <a:ext cx="11302365" cy="361950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菜单栏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6" name="矩形 5"/>
          <p:cNvSpPr/>
          <p:nvPr/>
        </p:nvSpPr>
        <p:spPr>
          <a:xfrm>
            <a:off x="616585" y="507365"/>
            <a:ext cx="1594485" cy="38163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端口：</a:t>
            </a:r>
            <a:r>
              <a:rPr lang="en-US" altLang="zh-CN">
                <a:solidFill>
                  <a:schemeClr val="tx1"/>
                </a:solidFill>
              </a:rPr>
              <a:t>COM3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7" name="圆角矩形 6"/>
          <p:cNvSpPr/>
          <p:nvPr/>
        </p:nvSpPr>
        <p:spPr>
          <a:xfrm>
            <a:off x="812165" y="1059815"/>
            <a:ext cx="3166110" cy="545211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参数</a:t>
            </a:r>
            <a:r>
              <a:rPr lang="zh-CN" altLang="en-US">
                <a:solidFill>
                  <a:schemeClr val="tx1"/>
                </a:solidFill>
              </a:rPr>
              <a:t>设置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483735" y="1134110"/>
            <a:ext cx="7190105" cy="2700655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云图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10" name="圆角矩形 9"/>
          <p:cNvSpPr/>
          <p:nvPr/>
        </p:nvSpPr>
        <p:spPr>
          <a:xfrm>
            <a:off x="4453890" y="4271010"/>
            <a:ext cx="7179945" cy="233426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个性化展示</a:t>
            </a:r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3" name="矩形 2"/>
          <p:cNvSpPr/>
          <p:nvPr/>
        </p:nvSpPr>
        <p:spPr>
          <a:xfrm>
            <a:off x="3805555" y="507365"/>
            <a:ext cx="1594485" cy="38163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通讯地址：</a:t>
            </a:r>
            <a:r>
              <a:rPr lang="en-US" altLang="zh-CN">
                <a:solidFill>
                  <a:schemeClr val="tx1"/>
                </a:solidFill>
              </a:rPr>
              <a:t>1</a:t>
            </a:r>
            <a:endParaRPr lang="en-US" altLang="zh-CN">
              <a:solidFill>
                <a:schemeClr val="tx1"/>
              </a:solidFill>
            </a:endParaRPr>
          </a:p>
        </p:txBody>
      </p:sp>
      <p:sp>
        <p:nvSpPr>
          <p:cNvPr id="11" name="矩形 10"/>
          <p:cNvSpPr/>
          <p:nvPr/>
        </p:nvSpPr>
        <p:spPr>
          <a:xfrm>
            <a:off x="2211070" y="507365"/>
            <a:ext cx="1594485" cy="381635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>
                <a:solidFill>
                  <a:schemeClr val="tx1"/>
                </a:solidFill>
              </a:rPr>
              <a:t>波特率：</a:t>
            </a:r>
            <a:r>
              <a:rPr lang="en-US" altLang="zh-CN">
                <a:solidFill>
                  <a:schemeClr val="tx1"/>
                </a:solidFill>
              </a:rPr>
              <a:t>9600</a:t>
            </a:r>
            <a:endParaRPr lang="en-US" altLang="zh-CN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圆角矩形 6"/>
          <p:cNvSpPr/>
          <p:nvPr/>
        </p:nvSpPr>
        <p:spPr>
          <a:xfrm>
            <a:off x="812165" y="1059815"/>
            <a:ext cx="9401175" cy="48793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211195" y="50990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参数</a:t>
            </a:r>
            <a:r>
              <a:rPr lang="zh-CN" altLang="en-US">
                <a:sym typeface="+mn-ea"/>
              </a:rPr>
              <a:t>设置页面详情：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/>
          </a:p>
        </p:txBody>
      </p:sp>
      <p:sp>
        <p:nvSpPr>
          <p:cNvPr id="3" name="文本框 2"/>
          <p:cNvSpPr txBox="1"/>
          <p:nvPr/>
        </p:nvSpPr>
        <p:spPr>
          <a:xfrm>
            <a:off x="1156335" y="1407795"/>
            <a:ext cx="2854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管壁温度</a:t>
            </a:r>
            <a:r>
              <a:rPr lang="en-US" altLang="zh-CN"/>
              <a:t>1</a:t>
            </a:r>
            <a:r>
              <a:rPr lang="zh-CN" altLang="en-US"/>
              <a:t>：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1156335" y="2028825"/>
            <a:ext cx="2854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岩心孔隙度：</a:t>
            </a:r>
            <a:endParaRPr lang="zh-CN" altLang="en-US"/>
          </a:p>
        </p:txBody>
      </p:sp>
      <p:sp>
        <p:nvSpPr>
          <p:cNvPr id="6" name="文本框 5"/>
          <p:cNvSpPr txBox="1"/>
          <p:nvPr/>
        </p:nvSpPr>
        <p:spPr>
          <a:xfrm>
            <a:off x="3290570" y="1462405"/>
            <a:ext cx="2854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管壁温度</a:t>
            </a:r>
            <a:r>
              <a:rPr lang="en-US" altLang="zh-CN"/>
              <a:t>2</a:t>
            </a:r>
            <a:r>
              <a:rPr lang="zh-CN" altLang="en-US"/>
              <a:t>：</a:t>
            </a:r>
            <a:endParaRPr lang="zh-CN" altLang="en-US"/>
          </a:p>
        </p:txBody>
      </p:sp>
      <p:sp>
        <p:nvSpPr>
          <p:cNvPr id="8" name="文本框 7"/>
          <p:cNvSpPr txBox="1"/>
          <p:nvPr/>
        </p:nvSpPr>
        <p:spPr>
          <a:xfrm>
            <a:off x="3290570" y="2028825"/>
            <a:ext cx="2854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岩心渗透率：</a:t>
            </a:r>
            <a:endParaRPr lang="zh-CN" altLang="en-US"/>
          </a:p>
        </p:txBody>
      </p:sp>
      <p:sp>
        <p:nvSpPr>
          <p:cNvPr id="9" name="圆角矩形 8"/>
          <p:cNvSpPr/>
          <p:nvPr/>
        </p:nvSpPr>
        <p:spPr>
          <a:xfrm>
            <a:off x="8427085" y="2073910"/>
            <a:ext cx="1380490" cy="43180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修改</a:t>
            </a:r>
            <a:r>
              <a:rPr lang="zh-CN" altLang="en-US"/>
              <a:t>值</a:t>
            </a:r>
            <a:endParaRPr lang="zh-CN" altLang="en-US"/>
          </a:p>
        </p:txBody>
      </p:sp>
      <p:sp>
        <p:nvSpPr>
          <p:cNvPr id="13" name="圆角矩形 12"/>
          <p:cNvSpPr/>
          <p:nvPr/>
        </p:nvSpPr>
        <p:spPr>
          <a:xfrm>
            <a:off x="1096645" y="1388110"/>
            <a:ext cx="8751570" cy="2175510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圆角矩形 14"/>
          <p:cNvSpPr/>
          <p:nvPr/>
        </p:nvSpPr>
        <p:spPr>
          <a:xfrm>
            <a:off x="1096645" y="3649345"/>
            <a:ext cx="8710930" cy="2199005"/>
          </a:xfrm>
          <a:prstGeom prst="roundRect">
            <a:avLst/>
          </a:prstGeom>
        </p:spPr>
        <p:style>
          <a:lnRef idx="3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6" name="文本框 15"/>
          <p:cNvSpPr txBox="1"/>
          <p:nvPr/>
        </p:nvSpPr>
        <p:spPr>
          <a:xfrm>
            <a:off x="4879340" y="3195320"/>
            <a:ext cx="15436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基础</a:t>
            </a:r>
            <a:r>
              <a:rPr lang="zh-CN" altLang="en-US"/>
              <a:t>参数</a:t>
            </a:r>
            <a:endParaRPr lang="zh-CN" altLang="en-US"/>
          </a:p>
        </p:txBody>
      </p:sp>
      <p:sp>
        <p:nvSpPr>
          <p:cNvPr id="17" name="文本框 16"/>
          <p:cNvSpPr txBox="1"/>
          <p:nvPr/>
        </p:nvSpPr>
        <p:spPr>
          <a:xfrm>
            <a:off x="5006340" y="5297805"/>
            <a:ext cx="154368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其他参数</a:t>
            </a:r>
            <a:endParaRPr lang="zh-CN" altLang="en-US"/>
          </a:p>
        </p:txBody>
      </p:sp>
      <p:sp>
        <p:nvSpPr>
          <p:cNvPr id="18" name="圆角矩形 17"/>
          <p:cNvSpPr/>
          <p:nvPr/>
        </p:nvSpPr>
        <p:spPr>
          <a:xfrm>
            <a:off x="8427085" y="4777105"/>
            <a:ext cx="1380490" cy="43180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修改</a:t>
            </a:r>
            <a:r>
              <a:rPr lang="zh-CN" altLang="en-US"/>
              <a:t>值</a:t>
            </a:r>
            <a:endParaRPr lang="zh-CN" altLang="en-US"/>
          </a:p>
        </p:txBody>
      </p:sp>
      <p:sp>
        <p:nvSpPr>
          <p:cNvPr id="19" name="文本框 18"/>
          <p:cNvSpPr txBox="1"/>
          <p:nvPr/>
        </p:nvSpPr>
        <p:spPr>
          <a:xfrm>
            <a:off x="1189355" y="2728595"/>
            <a:ext cx="2854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预留参数：</a:t>
            </a:r>
            <a:endParaRPr lang="zh-CN" altLang="en-US"/>
          </a:p>
        </p:txBody>
      </p:sp>
      <p:sp>
        <p:nvSpPr>
          <p:cNvPr id="20" name="文本框 19"/>
          <p:cNvSpPr txBox="1"/>
          <p:nvPr/>
        </p:nvSpPr>
        <p:spPr>
          <a:xfrm>
            <a:off x="4224020" y="4472305"/>
            <a:ext cx="2854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预留参数：</a:t>
            </a:r>
            <a:endParaRPr lang="zh-CN" altLang="en-US"/>
          </a:p>
        </p:txBody>
      </p:sp>
      <p:sp>
        <p:nvSpPr>
          <p:cNvPr id="21" name="文本框 20"/>
          <p:cNvSpPr txBox="1"/>
          <p:nvPr/>
        </p:nvSpPr>
        <p:spPr>
          <a:xfrm>
            <a:off x="1283335" y="4472305"/>
            <a:ext cx="2854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预留参数：</a:t>
            </a:r>
            <a:endParaRPr lang="zh-CN" altLang="en-US"/>
          </a:p>
        </p:txBody>
      </p:sp>
      <p:sp>
        <p:nvSpPr>
          <p:cNvPr id="22" name="文本框 21"/>
          <p:cNvSpPr txBox="1"/>
          <p:nvPr/>
        </p:nvSpPr>
        <p:spPr>
          <a:xfrm>
            <a:off x="4137660" y="3896360"/>
            <a:ext cx="2854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产出压力：</a:t>
            </a:r>
            <a:endParaRPr lang="zh-CN" altLang="en-US"/>
          </a:p>
        </p:txBody>
      </p:sp>
      <p:sp>
        <p:nvSpPr>
          <p:cNvPr id="23" name="文本框 22"/>
          <p:cNvSpPr txBox="1"/>
          <p:nvPr/>
        </p:nvSpPr>
        <p:spPr>
          <a:xfrm>
            <a:off x="1283335" y="3896360"/>
            <a:ext cx="2854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注入压力：</a:t>
            </a:r>
            <a:endParaRPr lang="zh-CN" altLang="en-US"/>
          </a:p>
        </p:txBody>
      </p:sp>
      <p:sp>
        <p:nvSpPr>
          <p:cNvPr id="24" name="文本框 23"/>
          <p:cNvSpPr txBox="1"/>
          <p:nvPr/>
        </p:nvSpPr>
        <p:spPr>
          <a:xfrm>
            <a:off x="3505200" y="2741295"/>
            <a:ext cx="285432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预留参数：</a:t>
            </a:r>
            <a:endParaRPr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圆角矩形 6"/>
          <p:cNvSpPr/>
          <p:nvPr/>
        </p:nvSpPr>
        <p:spPr>
          <a:xfrm>
            <a:off x="812165" y="1059815"/>
            <a:ext cx="9401175" cy="48793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211195" y="50990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云图</a:t>
            </a:r>
            <a:r>
              <a:rPr lang="zh-CN" altLang="en-US">
                <a:sym typeface="+mn-ea"/>
              </a:rPr>
              <a:t>页面详情：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/>
          </a:p>
        </p:txBody>
      </p:sp>
      <p:sp>
        <p:nvSpPr>
          <p:cNvPr id="12" name="圆角矩形 11"/>
          <p:cNvSpPr/>
          <p:nvPr/>
        </p:nvSpPr>
        <p:spPr>
          <a:xfrm>
            <a:off x="2213610" y="1958975"/>
            <a:ext cx="6458585" cy="1345565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1722120" y="1597025"/>
            <a:ext cx="709930" cy="197548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1315085" y="2167890"/>
            <a:ext cx="407035" cy="93789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8421370" y="1597025"/>
            <a:ext cx="709930" cy="197548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9131300" y="2167890"/>
            <a:ext cx="407035" cy="93789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8" name="文本框 17"/>
          <p:cNvSpPr txBox="1"/>
          <p:nvPr/>
        </p:nvSpPr>
        <p:spPr>
          <a:xfrm>
            <a:off x="4650740" y="2447290"/>
            <a:ext cx="193611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云图区</a:t>
            </a:r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2923540" y="2167890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27" name="椭圆 26"/>
          <p:cNvSpPr/>
          <p:nvPr/>
        </p:nvSpPr>
        <p:spPr>
          <a:xfrm>
            <a:off x="4253865" y="2164715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8" name="椭圆 27"/>
          <p:cNvSpPr/>
          <p:nvPr/>
        </p:nvSpPr>
        <p:spPr>
          <a:xfrm>
            <a:off x="5656580" y="2167890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29" name="椭圆 28"/>
          <p:cNvSpPr/>
          <p:nvPr/>
        </p:nvSpPr>
        <p:spPr>
          <a:xfrm>
            <a:off x="7275195" y="2164715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30" name="椭圆 29"/>
          <p:cNvSpPr/>
          <p:nvPr/>
        </p:nvSpPr>
        <p:spPr>
          <a:xfrm>
            <a:off x="6534150" y="2870200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31" name="椭圆 30"/>
          <p:cNvSpPr/>
          <p:nvPr/>
        </p:nvSpPr>
        <p:spPr>
          <a:xfrm>
            <a:off x="3588385" y="2870200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32" name="椭圆 31"/>
          <p:cNvSpPr/>
          <p:nvPr/>
        </p:nvSpPr>
        <p:spPr>
          <a:xfrm>
            <a:off x="4916805" y="2870200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sp>
        <p:nvSpPr>
          <p:cNvPr id="34" name="圆角矩形 33"/>
          <p:cNvSpPr/>
          <p:nvPr/>
        </p:nvSpPr>
        <p:spPr>
          <a:xfrm>
            <a:off x="2923540" y="5066665"/>
            <a:ext cx="1648460" cy="51625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开始</a:t>
            </a:r>
            <a:r>
              <a:rPr lang="zh-CN" altLang="en-US"/>
              <a:t>渲染</a:t>
            </a:r>
            <a:endParaRPr lang="zh-CN" altLang="en-US"/>
          </a:p>
        </p:txBody>
      </p:sp>
      <p:sp>
        <p:nvSpPr>
          <p:cNvPr id="35" name="圆角矩形 34"/>
          <p:cNvSpPr/>
          <p:nvPr/>
        </p:nvSpPr>
        <p:spPr>
          <a:xfrm>
            <a:off x="6003925" y="5066665"/>
            <a:ext cx="1648460" cy="516255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停止渲染</a:t>
            </a:r>
            <a:endParaRPr lang="zh-CN" altLang="en-US"/>
          </a:p>
        </p:txBody>
      </p:sp>
      <p:sp>
        <p:nvSpPr>
          <p:cNvPr id="36" name="椭圆 35"/>
          <p:cNvSpPr/>
          <p:nvPr/>
        </p:nvSpPr>
        <p:spPr>
          <a:xfrm>
            <a:off x="1168400" y="2219325"/>
            <a:ext cx="622300" cy="313690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P1</a:t>
            </a:r>
            <a:endParaRPr lang="en-US" altLang="zh-CN"/>
          </a:p>
        </p:txBody>
      </p:sp>
      <p:sp>
        <p:nvSpPr>
          <p:cNvPr id="37" name="椭圆 36"/>
          <p:cNvSpPr/>
          <p:nvPr/>
        </p:nvSpPr>
        <p:spPr>
          <a:xfrm>
            <a:off x="9210040" y="2250440"/>
            <a:ext cx="61722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P2</a:t>
            </a:r>
            <a:endParaRPr lang="en-US" altLang="zh-CN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7" name="圆角矩形 6"/>
          <p:cNvSpPr/>
          <p:nvPr/>
        </p:nvSpPr>
        <p:spPr>
          <a:xfrm>
            <a:off x="765810" y="1123315"/>
            <a:ext cx="9401175" cy="4879340"/>
          </a:xfrm>
          <a:prstGeom prst="roundRect">
            <a:avLst/>
          </a:prstGeom>
          <a:solidFill>
            <a:schemeClr val="bg2"/>
          </a:solidFill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>
              <a:solidFill>
                <a:schemeClr val="tx1"/>
              </a:solidFill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3211195" y="50990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>
                <a:sym typeface="+mn-ea"/>
              </a:rPr>
              <a:t>个性化展示</a:t>
            </a:r>
            <a:r>
              <a:rPr lang="zh-CN" altLang="en-US">
                <a:sym typeface="+mn-ea"/>
              </a:rPr>
              <a:t>页面详情：</a:t>
            </a:r>
            <a:endParaRPr lang="zh-CN" altLang="en-US">
              <a:solidFill>
                <a:schemeClr val="tx1"/>
              </a:solidFill>
            </a:endParaRPr>
          </a:p>
          <a:p>
            <a:endParaRPr lang="zh-CN" altLang="en-US"/>
          </a:p>
        </p:txBody>
      </p:sp>
      <p:sp>
        <p:nvSpPr>
          <p:cNvPr id="3" name="矩形 2"/>
          <p:cNvSpPr/>
          <p:nvPr/>
        </p:nvSpPr>
        <p:spPr>
          <a:xfrm>
            <a:off x="1354455" y="1785620"/>
            <a:ext cx="660400" cy="3524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T1</a:t>
            </a:r>
            <a:endParaRPr lang="en-US" altLang="zh-CN"/>
          </a:p>
        </p:txBody>
      </p:sp>
      <p:sp>
        <p:nvSpPr>
          <p:cNvPr id="4" name="矩形 3"/>
          <p:cNvSpPr/>
          <p:nvPr/>
        </p:nvSpPr>
        <p:spPr>
          <a:xfrm>
            <a:off x="2014855" y="1785620"/>
            <a:ext cx="660400" cy="3524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T2</a:t>
            </a:r>
            <a:endParaRPr lang="en-US" altLang="zh-CN"/>
          </a:p>
        </p:txBody>
      </p:sp>
      <p:sp>
        <p:nvSpPr>
          <p:cNvPr id="5" name="矩形 4"/>
          <p:cNvSpPr/>
          <p:nvPr/>
        </p:nvSpPr>
        <p:spPr>
          <a:xfrm>
            <a:off x="2649855" y="1785620"/>
            <a:ext cx="660400" cy="3524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T3</a:t>
            </a:r>
            <a:endParaRPr lang="en-US" altLang="zh-CN"/>
          </a:p>
        </p:txBody>
      </p:sp>
      <p:sp>
        <p:nvSpPr>
          <p:cNvPr id="6" name="矩形 5"/>
          <p:cNvSpPr/>
          <p:nvPr/>
        </p:nvSpPr>
        <p:spPr>
          <a:xfrm>
            <a:off x="5291455" y="1785620"/>
            <a:ext cx="660400" cy="3524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T7</a:t>
            </a:r>
            <a:endParaRPr lang="en-US" altLang="zh-CN"/>
          </a:p>
        </p:txBody>
      </p:sp>
      <p:sp>
        <p:nvSpPr>
          <p:cNvPr id="8" name="矩形 7"/>
          <p:cNvSpPr/>
          <p:nvPr/>
        </p:nvSpPr>
        <p:spPr>
          <a:xfrm>
            <a:off x="4627880" y="1785620"/>
            <a:ext cx="660400" cy="3524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T6</a:t>
            </a:r>
            <a:endParaRPr lang="en-US" altLang="zh-CN"/>
          </a:p>
        </p:txBody>
      </p:sp>
      <p:sp>
        <p:nvSpPr>
          <p:cNvPr id="9" name="矩形 8"/>
          <p:cNvSpPr/>
          <p:nvPr/>
        </p:nvSpPr>
        <p:spPr>
          <a:xfrm>
            <a:off x="3310255" y="1785620"/>
            <a:ext cx="660400" cy="3524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T4</a:t>
            </a:r>
            <a:endParaRPr lang="en-US" altLang="zh-CN"/>
          </a:p>
        </p:txBody>
      </p:sp>
      <p:sp>
        <p:nvSpPr>
          <p:cNvPr id="10" name="矩形 9"/>
          <p:cNvSpPr/>
          <p:nvPr/>
        </p:nvSpPr>
        <p:spPr>
          <a:xfrm>
            <a:off x="3970655" y="1785620"/>
            <a:ext cx="660400" cy="3524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T5</a:t>
            </a:r>
            <a:endParaRPr lang="en-US" altLang="zh-CN"/>
          </a:p>
        </p:txBody>
      </p:sp>
      <p:sp>
        <p:nvSpPr>
          <p:cNvPr id="11" name="矩形 10"/>
          <p:cNvSpPr/>
          <p:nvPr/>
        </p:nvSpPr>
        <p:spPr>
          <a:xfrm>
            <a:off x="6605905" y="1785620"/>
            <a:ext cx="660400" cy="3524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P2</a:t>
            </a:r>
            <a:endParaRPr lang="en-US" altLang="zh-CN"/>
          </a:p>
        </p:txBody>
      </p:sp>
      <p:sp>
        <p:nvSpPr>
          <p:cNvPr id="16" name="矩形 15"/>
          <p:cNvSpPr/>
          <p:nvPr/>
        </p:nvSpPr>
        <p:spPr>
          <a:xfrm>
            <a:off x="5955030" y="1785620"/>
            <a:ext cx="660400" cy="3524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P1</a:t>
            </a:r>
            <a:endParaRPr lang="en-US" altLang="zh-CN"/>
          </a:p>
        </p:txBody>
      </p:sp>
      <p:sp>
        <p:nvSpPr>
          <p:cNvPr id="19" name="矩形 18"/>
          <p:cNvSpPr/>
          <p:nvPr/>
        </p:nvSpPr>
        <p:spPr>
          <a:xfrm>
            <a:off x="7933055" y="1785620"/>
            <a:ext cx="660400" cy="3524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T9</a:t>
            </a:r>
            <a:endParaRPr lang="en-US" altLang="zh-CN"/>
          </a:p>
        </p:txBody>
      </p:sp>
      <p:sp>
        <p:nvSpPr>
          <p:cNvPr id="20" name="矩形 19"/>
          <p:cNvSpPr/>
          <p:nvPr/>
        </p:nvSpPr>
        <p:spPr>
          <a:xfrm>
            <a:off x="7282180" y="1785620"/>
            <a:ext cx="660400" cy="35242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T8</a:t>
            </a:r>
            <a:endParaRPr lang="en-US" altLang="zh-CN"/>
          </a:p>
        </p:txBody>
      </p:sp>
      <p:sp>
        <p:nvSpPr>
          <p:cNvPr id="22" name="矩形 21"/>
          <p:cNvSpPr/>
          <p:nvPr/>
        </p:nvSpPr>
        <p:spPr>
          <a:xfrm>
            <a:off x="1354455" y="2138045"/>
            <a:ext cx="7272655" cy="322643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cxnSp>
        <p:nvCxnSpPr>
          <p:cNvPr id="23" name="直接箭头连接符 22"/>
          <p:cNvCxnSpPr/>
          <p:nvPr/>
        </p:nvCxnSpPr>
        <p:spPr>
          <a:xfrm>
            <a:off x="1831340" y="4947920"/>
            <a:ext cx="6135370" cy="14605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24" name="直接箭头连接符 23"/>
          <p:cNvCxnSpPr/>
          <p:nvPr/>
        </p:nvCxnSpPr>
        <p:spPr>
          <a:xfrm flipH="1" flipV="1">
            <a:off x="1791335" y="2197735"/>
            <a:ext cx="40005" cy="2804160"/>
          </a:xfrm>
          <a:prstGeom prst="straightConnector1">
            <a:avLst/>
          </a:prstGeom>
          <a:ln>
            <a:tailEnd type="arrow"/>
          </a:ln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25" name="圆角矩形 24"/>
          <p:cNvSpPr/>
          <p:nvPr/>
        </p:nvSpPr>
        <p:spPr>
          <a:xfrm>
            <a:off x="8815705" y="2599690"/>
            <a:ext cx="1206500" cy="476250"/>
          </a:xfrm>
          <a:prstGeom prst="roundRect">
            <a:avLst/>
          </a:prstGeom>
        </p:spPr>
        <p:style>
          <a:lnRef idx="2">
            <a:schemeClr val="accent1">
              <a:lumMod val="75000"/>
            </a:schemeClr>
          </a:lnRef>
          <a:fillRef idx="1">
            <a:schemeClr val="accent1"/>
          </a:fillRef>
          <a:effectRef idx="0">
            <a:srgbClr val="FFFFFF"/>
          </a:effectRef>
          <a:fontRef idx="minor">
            <a:schemeClr val="lt1"/>
          </a:fontRef>
        </p:style>
        <p:txBody>
          <a:bodyPr rtlCol="0" anchor="ctr"/>
          <a:p>
            <a:pPr algn="ctr"/>
            <a:r>
              <a:rPr lang="zh-CN" altLang="en-US"/>
              <a:t>导出</a:t>
            </a:r>
            <a:r>
              <a:rPr lang="zh-CN" altLang="en-US"/>
              <a:t>数据</a:t>
            </a:r>
            <a:endParaRPr lang="zh-CN" altLang="en-US"/>
          </a:p>
        </p:txBody>
      </p:sp>
      <p:sp>
        <p:nvSpPr>
          <p:cNvPr id="33" name="文本框 32"/>
          <p:cNvSpPr txBox="1"/>
          <p:nvPr/>
        </p:nvSpPr>
        <p:spPr>
          <a:xfrm>
            <a:off x="7623810" y="5039360"/>
            <a:ext cx="1191895" cy="40830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时间</a:t>
            </a:r>
            <a:r>
              <a:rPr lang="en-US" altLang="zh-CN"/>
              <a:t>/</a:t>
            </a:r>
            <a:r>
              <a:rPr lang="en-US" altLang="zh-CN"/>
              <a:t>mins</a:t>
            </a:r>
            <a:endParaRPr lang="en-US" altLang="zh-CN"/>
          </a:p>
        </p:txBody>
      </p:sp>
      <p:sp>
        <p:nvSpPr>
          <p:cNvPr id="35" name="文本框 34"/>
          <p:cNvSpPr txBox="1"/>
          <p:nvPr/>
        </p:nvSpPr>
        <p:spPr>
          <a:xfrm>
            <a:off x="1294130" y="2197735"/>
            <a:ext cx="497205" cy="127889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对应值</a:t>
            </a:r>
            <a:endParaRPr lang="en-US" altLang="zh-CN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文本框 1"/>
          <p:cNvSpPr txBox="1"/>
          <p:nvPr/>
        </p:nvSpPr>
        <p:spPr>
          <a:xfrm>
            <a:off x="3211195" y="509905"/>
            <a:ext cx="4064000" cy="64516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endParaRPr lang="zh-CN" altLang="en-US">
              <a:solidFill>
                <a:schemeClr val="tx1"/>
              </a:solidFill>
            </a:endParaRPr>
          </a:p>
          <a:p>
            <a:endParaRPr lang="zh-CN" altLang="en-US"/>
          </a:p>
        </p:txBody>
      </p:sp>
      <p:sp>
        <p:nvSpPr>
          <p:cNvPr id="12" name="文本框 11"/>
          <p:cNvSpPr txBox="1"/>
          <p:nvPr/>
        </p:nvSpPr>
        <p:spPr>
          <a:xfrm>
            <a:off x="753110" y="118745"/>
            <a:ext cx="9211310" cy="40627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/>
              <a:t>主页面：</a:t>
            </a:r>
            <a:endParaRPr lang="zh-CN" altLang="en-US"/>
          </a:p>
          <a:p>
            <a:r>
              <a:rPr lang="zh-CN" altLang="en-US"/>
              <a:t>整体布局类似第一张</a:t>
            </a:r>
            <a:r>
              <a:rPr lang="en-US" altLang="zh-CN"/>
              <a:t>PPT</a:t>
            </a:r>
            <a:r>
              <a:rPr lang="zh-CN" altLang="en-US"/>
              <a:t>，上面的菜单栏其实是通讯配置，就三个值点开之后是一个弹窗</a:t>
            </a:r>
            <a:r>
              <a:rPr lang="en-US" altLang="zh-CN"/>
              <a:t>,</a:t>
            </a:r>
            <a:r>
              <a:rPr lang="zh-CN" altLang="en-US"/>
              <a:t>默认值就是第一张</a:t>
            </a:r>
            <a:r>
              <a:rPr lang="en-US" altLang="zh-CN"/>
              <a:t>PPT</a:t>
            </a:r>
            <a:r>
              <a:rPr lang="zh-CN" altLang="en-US"/>
              <a:t>显示的，但是可以进行修改（如果改的不对，点云图页面的开始渲染，就会出现对应报错的</a:t>
            </a:r>
            <a:r>
              <a:rPr lang="zh-CN" altLang="en-US"/>
              <a:t>弹窗）</a:t>
            </a:r>
            <a:endParaRPr lang="zh-CN" altLang="en-US"/>
          </a:p>
          <a:p>
            <a:endParaRPr lang="zh-CN" altLang="en-US"/>
          </a:p>
          <a:p>
            <a:r>
              <a:rPr lang="zh-CN" altLang="en-US">
                <a:sym typeface="+mn-ea"/>
              </a:rPr>
              <a:t>参数设置页面详情：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/>
              <a:t>分为两块，一块是基础参数，一块是其他参数，先按照整个排版，之后进行详细</a:t>
            </a:r>
            <a:r>
              <a:rPr lang="zh-CN" altLang="en-US"/>
              <a:t>修改</a:t>
            </a:r>
            <a:endParaRPr lang="zh-CN" altLang="en-US"/>
          </a:p>
          <a:p>
            <a:endParaRPr lang="zh-CN" altLang="en-US"/>
          </a:p>
          <a:p>
            <a:r>
              <a:rPr lang="zh-CN" altLang="en-US">
                <a:sym typeface="+mn-ea"/>
              </a:rPr>
              <a:t>参数设置页面详情：</a:t>
            </a:r>
            <a:endParaRPr lang="zh-CN" altLang="en-US">
              <a:solidFill>
                <a:schemeClr val="tx1"/>
              </a:solidFill>
            </a:endParaRPr>
          </a:p>
          <a:p>
            <a:r>
              <a:rPr lang="zh-CN" altLang="en-US"/>
              <a:t>展示区类似这样要展示一维火驱模拟装置，然后在管道入口，出口要预留两个压力点位，后续要通过压力传感器，显示在</a:t>
            </a:r>
            <a:r>
              <a:rPr lang="zh-CN" altLang="en-US">
                <a:sym typeface="+mn-ea"/>
              </a:rPr>
              <a:t>参数设置页面里的基础参数中。剩下管内</a:t>
            </a:r>
            <a:r>
              <a:rPr lang="en-US" altLang="zh-CN">
                <a:sym typeface="+mn-ea"/>
              </a:rPr>
              <a:t>7</a:t>
            </a:r>
            <a:r>
              <a:rPr lang="zh-CN" altLang="en-US">
                <a:sym typeface="+mn-ea"/>
              </a:rPr>
              <a:t>个则是我们不同通道的温度，利用插值把整个管道都用云图来表示，然后外面的温度则是直接用通道</a:t>
            </a:r>
            <a:r>
              <a:rPr lang="en-US" altLang="zh-CN">
                <a:sym typeface="+mn-ea"/>
              </a:rPr>
              <a:t>8</a:t>
            </a:r>
            <a:r>
              <a:rPr lang="zh-CN" altLang="en-US">
                <a:sym typeface="+mn-ea"/>
              </a:rPr>
              <a:t>，</a:t>
            </a:r>
            <a:r>
              <a:rPr lang="en-US" altLang="zh-CN">
                <a:sym typeface="+mn-ea"/>
              </a:rPr>
              <a:t>9</a:t>
            </a:r>
            <a:r>
              <a:rPr lang="zh-CN" altLang="en-US">
                <a:sym typeface="+mn-ea"/>
              </a:rPr>
              <a:t>因为他们放在了管壁，可以模拟外界温度。最后点击</a:t>
            </a:r>
            <a:r>
              <a:rPr lang="en-US" altLang="zh-CN">
                <a:sym typeface="+mn-ea"/>
              </a:rPr>
              <a:t>‘</a:t>
            </a:r>
            <a:r>
              <a:rPr lang="zh-CN" altLang="en-US">
                <a:sym typeface="+mn-ea"/>
              </a:rPr>
              <a:t>开始渲染</a:t>
            </a:r>
            <a:r>
              <a:rPr lang="en-US" altLang="zh-CN">
                <a:sym typeface="+mn-ea"/>
              </a:rPr>
              <a:t>’</a:t>
            </a:r>
            <a:r>
              <a:rPr lang="zh-CN" altLang="en-US">
                <a:sym typeface="+mn-ea"/>
              </a:rPr>
              <a:t>按钮</a:t>
            </a:r>
            <a:r>
              <a:rPr lang="zh-CN" altLang="en-US"/>
              <a:t>从而实现了云图渲染，实时更新不同通道的温度（如果哪个通道温度没有获取就默认用插值补上，所有通道都没有获取值才显示异常弹窗），点击</a:t>
            </a:r>
            <a:r>
              <a:rPr lang="en-US" altLang="zh-CN"/>
              <a:t>‘</a:t>
            </a:r>
            <a:r>
              <a:rPr lang="zh-CN" altLang="en-US"/>
              <a:t>停止渲染</a:t>
            </a:r>
            <a:r>
              <a:rPr lang="en-US" altLang="zh-CN"/>
              <a:t>’</a:t>
            </a:r>
            <a:r>
              <a:rPr lang="zh-CN" altLang="en-US"/>
              <a:t>按钮则暂停实时更新。</a:t>
            </a:r>
            <a:r>
              <a:rPr lang="zh-CN" altLang="en-US">
                <a:sym typeface="+mn-ea"/>
              </a:rPr>
              <a:t>点击</a:t>
            </a:r>
            <a:r>
              <a:rPr lang="en-US" altLang="zh-CN">
                <a:sym typeface="+mn-ea"/>
              </a:rPr>
              <a:t>‘</a:t>
            </a:r>
            <a:r>
              <a:rPr lang="zh-CN" altLang="en-US">
                <a:sym typeface="+mn-ea"/>
              </a:rPr>
              <a:t>开始渲染</a:t>
            </a:r>
            <a:r>
              <a:rPr lang="en-US" altLang="zh-CN">
                <a:sym typeface="+mn-ea"/>
              </a:rPr>
              <a:t>’</a:t>
            </a:r>
            <a:r>
              <a:rPr lang="zh-CN" altLang="en-US">
                <a:sym typeface="+mn-ea"/>
              </a:rPr>
              <a:t>之后，这个按键会灰掉，只有按</a:t>
            </a:r>
            <a:r>
              <a:rPr lang="en-US" altLang="zh-CN">
                <a:sym typeface="+mn-ea"/>
              </a:rPr>
              <a:t>’</a:t>
            </a:r>
            <a:r>
              <a:rPr lang="zh-CN" altLang="en-US">
                <a:sym typeface="+mn-ea"/>
              </a:rPr>
              <a:t>停止渲染</a:t>
            </a:r>
            <a:r>
              <a:rPr lang="en-US" altLang="zh-CN">
                <a:sym typeface="+mn-ea"/>
              </a:rPr>
              <a:t>‘</a:t>
            </a:r>
            <a:r>
              <a:rPr lang="zh-CN" altLang="en-US">
                <a:sym typeface="+mn-ea"/>
              </a:rPr>
              <a:t>按钮</a:t>
            </a:r>
            <a:r>
              <a:rPr lang="zh-CN" altLang="en-US">
                <a:sym typeface="+mn-ea"/>
              </a:rPr>
              <a:t>之后了才可以又点</a:t>
            </a:r>
            <a:endParaRPr lang="zh-CN" altLang="en-US"/>
          </a:p>
          <a:p>
            <a:endParaRPr lang="zh-CN" altLang="en-US"/>
          </a:p>
          <a:p>
            <a:endParaRPr lang="zh-CN" altLang="en-US"/>
          </a:p>
          <a:p>
            <a:r>
              <a:rPr lang="zh-CN" altLang="en-US"/>
              <a:t>个性化展示页面</a:t>
            </a:r>
            <a:r>
              <a:rPr lang="zh-CN" altLang="en-US"/>
              <a:t>详情：</a:t>
            </a:r>
            <a:endParaRPr lang="zh-CN" altLang="en-US"/>
          </a:p>
          <a:p>
            <a:r>
              <a:rPr lang="zh-CN" altLang="en-US"/>
              <a:t>只有云图页面点击了</a:t>
            </a:r>
            <a:r>
              <a:rPr lang="en-US" altLang="zh-CN"/>
              <a:t>’</a:t>
            </a:r>
            <a:r>
              <a:rPr lang="zh-CN" altLang="en-US"/>
              <a:t>开始渲染</a:t>
            </a:r>
            <a:r>
              <a:rPr lang="en-US" altLang="zh-CN"/>
              <a:t>‘</a:t>
            </a:r>
            <a:r>
              <a:rPr lang="zh-CN" altLang="en-US"/>
              <a:t>按钮，个性化图表会默认清空之后才开始出图，图表上面是不同的通道按钮，点击不同通道，就会显示该通道值随着时间变化的曲线，</a:t>
            </a:r>
            <a:r>
              <a:rPr lang="en-US" altLang="zh-CN"/>
              <a:t>7</a:t>
            </a:r>
            <a:r>
              <a:rPr lang="zh-CN" altLang="en-US"/>
              <a:t>个管内温度通道，</a:t>
            </a:r>
            <a:r>
              <a:rPr lang="en-US" altLang="zh-CN"/>
              <a:t>2</a:t>
            </a:r>
            <a:r>
              <a:rPr lang="zh-CN" altLang="en-US"/>
              <a:t>两个预留的压力通道，两个管壁温度通道，没有获取到对应通道的值的话曲线是不显示的。然后旁边有一个导出按钮，点击之后可以把所有通道的实时数据都导出到一个</a:t>
            </a:r>
            <a:r>
              <a:rPr lang="en-US" altLang="zh-CN"/>
              <a:t>excel</a:t>
            </a:r>
            <a:r>
              <a:rPr lang="zh-CN" altLang="en-US"/>
              <a:t>里，用子表分</a:t>
            </a:r>
            <a:r>
              <a:rPr lang="zh-CN" altLang="en-US"/>
              <a:t>隔。</a:t>
            </a:r>
            <a:endParaRPr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文本框 3"/>
          <p:cNvSpPr txBox="1"/>
          <p:nvPr/>
        </p:nvSpPr>
        <p:spPr>
          <a:xfrm>
            <a:off x="153670" y="59690"/>
            <a:ext cx="4064000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altLang="zh-CN"/>
              <a:t>6.28</a:t>
            </a:r>
            <a:r>
              <a:rPr lang="zh-CN" altLang="en-US"/>
              <a:t>修改</a:t>
            </a:r>
            <a:endParaRPr lang="zh-CN" altLang="en-US"/>
          </a:p>
        </p:txBody>
      </p:sp>
      <p:sp>
        <p:nvSpPr>
          <p:cNvPr id="5" name="文本框 4"/>
          <p:cNvSpPr txBox="1"/>
          <p:nvPr/>
        </p:nvSpPr>
        <p:spPr>
          <a:xfrm>
            <a:off x="227330" y="553085"/>
            <a:ext cx="10712450" cy="3272155"/>
          </a:xfrm>
          <a:prstGeom prst="rect">
            <a:avLst/>
          </a:prstGeom>
        </p:spPr>
        <p:txBody>
          <a:bodyPr>
            <a:noAutofit/>
          </a:bodyPr>
          <a:p>
            <a:pPr marL="0" indent="0" algn="l"/>
            <a:r>
              <a:rPr lang="zh-CN" altLang="en-US" sz="1800" b="0" i="0"/>
              <a:t>1.确认温度插值</a:t>
            </a:r>
            <a:r>
              <a:rPr lang="zh-CN" altLang="en-US" sz="1800" b="0" i="0"/>
              <a:t>方法法用克里</a:t>
            </a:r>
            <a:r>
              <a:rPr lang="zh-CN" altLang="en-US" sz="1800" b="0" i="0"/>
              <a:t>金插值法。</a:t>
            </a:r>
            <a:endParaRPr lang="zh-CN" altLang="en-US" sz="1800" b="0" i="0"/>
          </a:p>
          <a:p>
            <a:pPr marL="0" indent="0" algn="l"/>
            <a:r>
              <a:rPr lang="zh-CN" altLang="en-US" sz="1800" b="0" i="0"/>
              <a:t>2.标题名称改成：高温火驱原油着火热动力学特征评价系统</a:t>
            </a:r>
            <a:endParaRPr lang="zh-CN" altLang="en-US" sz="1800" b="0" i="0"/>
          </a:p>
          <a:p>
            <a:pPr marL="0" indent="0" algn="l"/>
            <a:r>
              <a:rPr lang="zh-CN" altLang="en-US" sz="1800" b="0" i="0"/>
              <a:t>3.云图区整个图片放大，铺满整个云图区，越大</a:t>
            </a:r>
            <a:r>
              <a:rPr lang="zh-CN" altLang="en-US" sz="1800" b="0" i="0"/>
              <a:t>越好而且不需要有覆盖的地方,去掉多余部分，然后入口，出口加一根粗实线如下</a:t>
            </a:r>
            <a:r>
              <a:rPr lang="zh-CN" altLang="en-US" sz="1800" b="0" i="0"/>
              <a:t>图：</a:t>
            </a:r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r>
              <a:rPr lang="zh-CN" altLang="en-US" sz="1800" b="0" i="0"/>
              <a:t>4.传感器放在中间，而且那一列都是用同一个温度，而不是只有那一个区域用这个温度，然后只要一个管壁温度就行，温度显示类似下面这种效果</a:t>
            </a:r>
            <a:r>
              <a:rPr lang="zh-CN" altLang="en-US" sz="1800" b="0" i="0"/>
              <a:t>就行</a:t>
            </a:r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endParaRPr lang="zh-CN" altLang="en-US" sz="1800" b="0" i="0"/>
          </a:p>
          <a:p>
            <a:pPr marL="0" indent="0" algn="l"/>
            <a:r>
              <a:rPr lang="zh-CN" altLang="en-US" sz="1800" b="0" i="0"/>
              <a:t>5.加一个功能区 可以指定哪一个探头对应是哪一个通道，然后可以关闭或者开启哪个探头，关闭的话对应地方的温度就用克里金插值来填充</a:t>
            </a:r>
            <a:r>
              <a:rPr lang="zh-CN" altLang="en-US" sz="1800" b="0" i="0"/>
              <a:t>就行</a:t>
            </a:r>
            <a:endParaRPr lang="zh-CN" altLang="en-US" sz="1800" b="0" i="0"/>
          </a:p>
        </p:txBody>
      </p:sp>
      <p:sp>
        <p:nvSpPr>
          <p:cNvPr id="12" name="圆角矩形 11"/>
          <p:cNvSpPr/>
          <p:nvPr/>
        </p:nvSpPr>
        <p:spPr>
          <a:xfrm>
            <a:off x="2400300" y="2211705"/>
            <a:ext cx="5989955" cy="1345565"/>
          </a:xfrm>
          <a:prstGeom prst="round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3" name="矩形 12"/>
          <p:cNvSpPr/>
          <p:nvPr/>
        </p:nvSpPr>
        <p:spPr>
          <a:xfrm>
            <a:off x="1690370" y="1849755"/>
            <a:ext cx="709930" cy="197548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4" name="矩形 13"/>
          <p:cNvSpPr/>
          <p:nvPr/>
        </p:nvSpPr>
        <p:spPr>
          <a:xfrm>
            <a:off x="1283335" y="2420620"/>
            <a:ext cx="407035" cy="93789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5" name="矩形 14"/>
          <p:cNvSpPr/>
          <p:nvPr/>
        </p:nvSpPr>
        <p:spPr>
          <a:xfrm>
            <a:off x="8389620" y="1849755"/>
            <a:ext cx="709930" cy="197548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17" name="矩形 16"/>
          <p:cNvSpPr/>
          <p:nvPr/>
        </p:nvSpPr>
        <p:spPr>
          <a:xfrm>
            <a:off x="9099550" y="2420620"/>
            <a:ext cx="407035" cy="937895"/>
          </a:xfrm>
          <a:prstGeom prst="rect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endParaRPr lang="zh-CN" altLang="en-US"/>
          </a:p>
        </p:txBody>
      </p:sp>
      <p:sp>
        <p:nvSpPr>
          <p:cNvPr id="26" name="椭圆 25"/>
          <p:cNvSpPr/>
          <p:nvPr/>
        </p:nvSpPr>
        <p:spPr>
          <a:xfrm>
            <a:off x="2721610" y="2700020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1</a:t>
            </a:r>
            <a:endParaRPr lang="en-US" altLang="zh-CN"/>
          </a:p>
        </p:txBody>
      </p:sp>
      <p:sp>
        <p:nvSpPr>
          <p:cNvPr id="27" name="椭圆 26"/>
          <p:cNvSpPr/>
          <p:nvPr/>
        </p:nvSpPr>
        <p:spPr>
          <a:xfrm>
            <a:off x="4391660" y="2700020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3</a:t>
            </a:r>
            <a:endParaRPr lang="en-US" altLang="zh-CN"/>
          </a:p>
        </p:txBody>
      </p:sp>
      <p:sp>
        <p:nvSpPr>
          <p:cNvPr id="28" name="椭圆 27"/>
          <p:cNvSpPr/>
          <p:nvPr/>
        </p:nvSpPr>
        <p:spPr>
          <a:xfrm>
            <a:off x="5955030" y="2703195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5</a:t>
            </a:r>
            <a:endParaRPr lang="en-US" altLang="zh-CN"/>
          </a:p>
        </p:txBody>
      </p:sp>
      <p:sp>
        <p:nvSpPr>
          <p:cNvPr id="29" name="椭圆 28"/>
          <p:cNvSpPr/>
          <p:nvPr/>
        </p:nvSpPr>
        <p:spPr>
          <a:xfrm>
            <a:off x="7731760" y="2700020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7</a:t>
            </a:r>
            <a:endParaRPr lang="en-US" altLang="zh-CN"/>
          </a:p>
        </p:txBody>
      </p:sp>
      <p:sp>
        <p:nvSpPr>
          <p:cNvPr id="30" name="椭圆 29"/>
          <p:cNvSpPr/>
          <p:nvPr/>
        </p:nvSpPr>
        <p:spPr>
          <a:xfrm>
            <a:off x="6884035" y="2703195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6</a:t>
            </a:r>
            <a:endParaRPr lang="en-US" altLang="zh-CN"/>
          </a:p>
        </p:txBody>
      </p:sp>
      <p:sp>
        <p:nvSpPr>
          <p:cNvPr id="31" name="椭圆 30"/>
          <p:cNvSpPr/>
          <p:nvPr/>
        </p:nvSpPr>
        <p:spPr>
          <a:xfrm>
            <a:off x="3519805" y="2703195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2</a:t>
            </a:r>
            <a:endParaRPr lang="en-US" altLang="zh-CN"/>
          </a:p>
        </p:txBody>
      </p:sp>
      <p:sp>
        <p:nvSpPr>
          <p:cNvPr id="32" name="椭圆 31"/>
          <p:cNvSpPr/>
          <p:nvPr/>
        </p:nvSpPr>
        <p:spPr>
          <a:xfrm>
            <a:off x="5134610" y="2703195"/>
            <a:ext cx="411480" cy="282575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4</a:t>
            </a:r>
            <a:endParaRPr lang="en-US" altLang="zh-CN"/>
          </a:p>
        </p:txBody>
      </p:sp>
      <p:cxnSp>
        <p:nvCxnSpPr>
          <p:cNvPr id="7" name="直接连接符 6"/>
          <p:cNvCxnSpPr/>
          <p:nvPr/>
        </p:nvCxnSpPr>
        <p:spPr>
          <a:xfrm>
            <a:off x="944880" y="2842260"/>
            <a:ext cx="648000" cy="0"/>
          </a:xfrm>
          <a:prstGeom prst="line">
            <a:avLst/>
          </a:prstGeom>
          <a:ln w="31750" cap="rnd">
            <a:solidFill>
              <a:schemeClr val="accent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cxnSp>
        <p:nvCxnSpPr>
          <p:cNvPr id="8" name="直接连接符 7"/>
          <p:cNvCxnSpPr/>
          <p:nvPr/>
        </p:nvCxnSpPr>
        <p:spPr>
          <a:xfrm>
            <a:off x="9302750" y="2842260"/>
            <a:ext cx="648000" cy="0"/>
          </a:xfrm>
          <a:prstGeom prst="line">
            <a:avLst/>
          </a:prstGeom>
          <a:ln w="31750" cap="rnd">
            <a:solidFill>
              <a:schemeClr val="accent1"/>
            </a:solidFill>
            <a:round/>
          </a:ln>
        </p:spPr>
        <p:style>
          <a:lnRef idx="0">
            <a:srgbClr val="FFFFFF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</p:cxnSp>
      <p:sp>
        <p:nvSpPr>
          <p:cNvPr id="9" name="椭圆 8"/>
          <p:cNvSpPr/>
          <p:nvPr/>
        </p:nvSpPr>
        <p:spPr>
          <a:xfrm>
            <a:off x="438785" y="2472055"/>
            <a:ext cx="622300" cy="313690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P1</a:t>
            </a:r>
            <a:endParaRPr lang="en-US" altLang="zh-CN"/>
          </a:p>
        </p:txBody>
      </p:sp>
      <p:sp>
        <p:nvSpPr>
          <p:cNvPr id="10" name="椭圆 9"/>
          <p:cNvSpPr/>
          <p:nvPr/>
        </p:nvSpPr>
        <p:spPr>
          <a:xfrm>
            <a:off x="9729470" y="2472055"/>
            <a:ext cx="622300" cy="313690"/>
          </a:xfrm>
          <a:prstGeom prst="ellipse">
            <a:avLst/>
          </a:prstGeom>
        </p:spPr>
        <p:style>
          <a:lnRef idx="2">
            <a:schemeClr val="accent1"/>
          </a:lnRef>
          <a:fillRef idx="0">
            <a:srgbClr val="FFFFFF"/>
          </a:fillRef>
          <a:effectRef idx="0">
            <a:srgbClr val="FFFFFF"/>
          </a:effectRef>
          <a:fontRef idx="minor">
            <a:schemeClr val="tx1"/>
          </a:fontRef>
        </p:style>
        <p:txBody>
          <a:bodyPr rtlCol="0" anchor="ctr"/>
          <a:p>
            <a:pPr algn="ctr"/>
            <a:r>
              <a:rPr lang="en-US" altLang="zh-CN"/>
              <a:t>P2</a:t>
            </a:r>
            <a:endParaRPr lang="en-US" altLang="zh-CN"/>
          </a:p>
        </p:txBody>
      </p:sp>
      <p:pic>
        <p:nvPicPr>
          <p:cNvPr id="11" name="图片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30320" y="4792980"/>
            <a:ext cx="3585210" cy="97917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微软雅黑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1046</Words>
  <Application>WPS 演示</Application>
  <PresentationFormat>宽屏</PresentationFormat>
  <Paragraphs>158</Paragraphs>
  <Slides>6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8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</vt:i4>
      </vt:variant>
    </vt:vector>
  </HeadingPairs>
  <TitlesOfParts>
    <vt:vector size="15" baseType="lpstr">
      <vt:lpstr>Arial</vt:lpstr>
      <vt:lpstr>SimSun</vt:lpstr>
      <vt:lpstr>Wingdings</vt:lpstr>
      <vt:lpstr>Calibri</vt:lpstr>
      <vt:lpstr>Microsoft YaHei</vt:lpstr>
      <vt:lpstr>Arial Unicode MS</vt:lpstr>
      <vt:lpstr>mp-quote</vt:lpstr>
      <vt:lpstr>Segoe Print</vt:lpstr>
      <vt:lpstr>WPS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xrf</dc:creator>
  <cp:lastModifiedBy>13:57</cp:lastModifiedBy>
  <cp:revision>12</cp:revision>
  <dcterms:created xsi:type="dcterms:W3CDTF">2023-08-09T12:44:00Z</dcterms:created>
  <dcterms:modified xsi:type="dcterms:W3CDTF">2026-06-28T08:05:12Z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2052-12.1.0.26895</vt:lpwstr>
  </property>
  <property fmtid="{D5CDD505-2E9C-101B-9397-08002B2CF9AE}" pid="3" name="ICV">
    <vt:lpwstr>2239C47CF5F8498BBECF536F11B71B2F_12</vt:lpwstr>
  </property>
</Properties>
</file>